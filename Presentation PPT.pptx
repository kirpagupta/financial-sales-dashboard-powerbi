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Lst>
  <p:sldSz cx="18288000" cy="10287000"/>
  <p:notesSz cx="6858000" cy="9144000"/>
  <p:embeddedFontLst>
    <p:embeddedFont>
      <p:font typeface="Canva Sans" panose="020B0604020202020204" charset="0"/>
      <p:regular r:id="rId8"/>
    </p:embeddedFont>
    <p:embeddedFont>
      <p:font typeface="Canva Sans Bold" panose="020B0604020202020204" charset="0"/>
      <p:regular r:id="rId9"/>
    </p:embeddedFont>
    <p:embeddedFont>
      <p:font typeface="Poppins" panose="00000500000000000000" pitchFamily="2" charset="0"/>
      <p:regular r:id="rId10"/>
    </p:embeddedFont>
    <p:embeddedFont>
      <p:font typeface="Poppins Bold"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a:off x="9869480" y="4929423"/>
            <a:ext cx="4741640" cy="3504373"/>
          </a:xfrm>
          <a:custGeom>
            <a:avLst/>
            <a:gdLst/>
            <a:ahLst/>
            <a:cxnLst/>
            <a:rect l="l" t="t" r="r" b="b"/>
            <a:pathLst>
              <a:path w="4741640" h="3504373">
                <a:moveTo>
                  <a:pt x="0" y="0"/>
                </a:moveTo>
                <a:lnTo>
                  <a:pt x="4741640" y="0"/>
                </a:lnTo>
                <a:lnTo>
                  <a:pt x="4741640" y="3504373"/>
                </a:lnTo>
                <a:lnTo>
                  <a:pt x="0" y="350437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209402" y="817085"/>
            <a:ext cx="13665042" cy="2718755"/>
          </a:xfrm>
          <a:prstGeom prst="rect">
            <a:avLst/>
          </a:prstGeom>
        </p:spPr>
        <p:txBody>
          <a:bodyPr lIns="0" tIns="0" rIns="0" bIns="0" rtlCol="0" anchor="t">
            <a:spAutoFit/>
          </a:bodyPr>
          <a:lstStyle/>
          <a:p>
            <a:pPr marL="0" lvl="0" indent="0" algn="l">
              <a:lnSpc>
                <a:spcPts val="9923"/>
              </a:lnSpc>
              <a:spcBef>
                <a:spcPct val="0"/>
              </a:spcBef>
            </a:pPr>
            <a:r>
              <a:rPr lang="en-US" sz="11277" b="1" u="none" strike="noStrike">
                <a:solidFill>
                  <a:srgbClr val="FFFFFF"/>
                </a:solidFill>
                <a:latin typeface="Poppins Bold"/>
                <a:ea typeface="Poppins Bold"/>
                <a:cs typeface="Poppins Bold"/>
                <a:sym typeface="Poppins Bold"/>
              </a:rPr>
              <a:t>FINANCIAL SALES DASHBOARD</a:t>
            </a:r>
          </a:p>
        </p:txBody>
      </p:sp>
      <p:sp>
        <p:nvSpPr>
          <p:cNvPr id="6" name="Freeform 6"/>
          <p:cNvSpPr/>
          <p:nvPr/>
        </p:nvSpPr>
        <p:spPr>
          <a:xfrm>
            <a:off x="16641596" y="1028700"/>
            <a:ext cx="4010060" cy="4114800"/>
          </a:xfrm>
          <a:custGeom>
            <a:avLst/>
            <a:gdLst/>
            <a:ahLst/>
            <a:cxnLst/>
            <a:rect l="l" t="t" r="r" b="b"/>
            <a:pathLst>
              <a:path w="4010060" h="4114800">
                <a:moveTo>
                  <a:pt x="0" y="0"/>
                </a:moveTo>
                <a:lnTo>
                  <a:pt x="4010060" y="0"/>
                </a:lnTo>
                <a:lnTo>
                  <a:pt x="401006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2569027" y="4103084"/>
            <a:ext cx="9699173" cy="613410"/>
          </a:xfrm>
          <a:prstGeom prst="rect">
            <a:avLst/>
          </a:prstGeom>
        </p:spPr>
        <p:txBody>
          <a:bodyPr wrap="square" lIns="0" tIns="0" rIns="0" bIns="0" rtlCol="0" anchor="t">
            <a:spAutoFit/>
          </a:bodyPr>
          <a:lstStyle/>
          <a:p>
            <a:pPr algn="ctr">
              <a:lnSpc>
                <a:spcPts val="5040"/>
              </a:lnSpc>
              <a:spcBef>
                <a:spcPct val="0"/>
              </a:spcBef>
            </a:pPr>
            <a:r>
              <a:rPr lang="en-US" sz="3600" dirty="0">
                <a:solidFill>
                  <a:srgbClr val="FFFFFF"/>
                </a:solidFill>
                <a:latin typeface="Canva Sans"/>
                <a:ea typeface="Canva Sans"/>
                <a:cs typeface="Canva Sans"/>
                <a:sym typeface="Canva Sans"/>
              </a:rPr>
              <a:t>Task 4 – Dashboard Design using Power BI</a:t>
            </a:r>
          </a:p>
        </p:txBody>
      </p:sp>
      <p:sp>
        <p:nvSpPr>
          <p:cNvPr id="8" name="TextBox 8"/>
          <p:cNvSpPr txBox="1"/>
          <p:nvPr/>
        </p:nvSpPr>
        <p:spPr>
          <a:xfrm>
            <a:off x="1209402" y="5394666"/>
            <a:ext cx="3165872" cy="1335419"/>
          </a:xfrm>
          <a:prstGeom prst="rect">
            <a:avLst/>
          </a:prstGeom>
        </p:spPr>
        <p:txBody>
          <a:bodyPr lIns="0" tIns="0" rIns="0" bIns="0" rtlCol="0" anchor="t">
            <a:spAutoFit/>
          </a:bodyPr>
          <a:lstStyle/>
          <a:p>
            <a:pPr algn="ctr">
              <a:lnSpc>
                <a:spcPts val="5396"/>
              </a:lnSpc>
            </a:pPr>
            <a:r>
              <a:rPr lang="en-US" sz="3854">
                <a:solidFill>
                  <a:srgbClr val="FFFFFF"/>
                </a:solidFill>
                <a:latin typeface="Canva Sans"/>
                <a:ea typeface="Canva Sans"/>
                <a:cs typeface="Canva Sans"/>
                <a:sym typeface="Canva Sans"/>
              </a:rPr>
              <a:t>Prepared By:</a:t>
            </a:r>
          </a:p>
          <a:p>
            <a:pPr algn="ctr">
              <a:lnSpc>
                <a:spcPts val="5396"/>
              </a:lnSpc>
              <a:spcBef>
                <a:spcPct val="0"/>
              </a:spcBef>
            </a:pPr>
            <a:r>
              <a:rPr lang="en-US" sz="3854">
                <a:solidFill>
                  <a:srgbClr val="FFFFFF"/>
                </a:solidFill>
                <a:latin typeface="Canva Sans"/>
                <a:ea typeface="Canva Sans"/>
                <a:cs typeface="Canva Sans"/>
                <a:sym typeface="Canva Sans"/>
              </a:rPr>
              <a:t>Kirpa Gupta</a:t>
            </a:r>
          </a:p>
        </p:txBody>
      </p:sp>
      <p:sp>
        <p:nvSpPr>
          <p:cNvPr id="9" name="TextBox 9"/>
          <p:cNvSpPr txBox="1"/>
          <p:nvPr/>
        </p:nvSpPr>
        <p:spPr>
          <a:xfrm>
            <a:off x="1209402" y="7136491"/>
            <a:ext cx="6331744" cy="2527935"/>
          </a:xfrm>
          <a:prstGeom prst="rect">
            <a:avLst/>
          </a:prstGeom>
        </p:spPr>
        <p:txBody>
          <a:bodyPr lIns="0" tIns="0" rIns="0" bIns="0" rtlCol="0" anchor="t">
            <a:spAutoFit/>
          </a:bodyPr>
          <a:lstStyle/>
          <a:p>
            <a:pPr algn="l">
              <a:lnSpc>
                <a:spcPts val="5040"/>
              </a:lnSpc>
            </a:pPr>
            <a:r>
              <a:rPr lang="en-US" sz="3600">
                <a:solidFill>
                  <a:srgbClr val="FFFFFF"/>
                </a:solidFill>
                <a:latin typeface="Canva Sans"/>
                <a:ea typeface="Canva Sans"/>
                <a:cs typeface="Canva Sans"/>
                <a:sym typeface="Canva Sans"/>
              </a:rPr>
              <a:t>Tools Used:</a:t>
            </a:r>
          </a:p>
          <a:p>
            <a:pPr marL="777240" lvl="1" indent="-388620" algn="l">
              <a:lnSpc>
                <a:spcPts val="5040"/>
              </a:lnSpc>
              <a:buFont typeface="Arial"/>
              <a:buChar char="•"/>
            </a:pPr>
            <a:r>
              <a:rPr lang="en-US" sz="3600">
                <a:solidFill>
                  <a:srgbClr val="FFFFFF"/>
                </a:solidFill>
                <a:latin typeface="Canva Sans"/>
                <a:ea typeface="Canva Sans"/>
                <a:cs typeface="Canva Sans"/>
                <a:sym typeface="Canva Sans"/>
              </a:rPr>
              <a:t>Microsoft Power BI</a:t>
            </a:r>
          </a:p>
          <a:p>
            <a:pPr marL="777240" lvl="1" indent="-388620" algn="l">
              <a:lnSpc>
                <a:spcPts val="5040"/>
              </a:lnSpc>
              <a:buFont typeface="Arial"/>
              <a:buChar char="•"/>
            </a:pPr>
            <a:r>
              <a:rPr lang="en-US" sz="3600">
                <a:solidFill>
                  <a:srgbClr val="FFFFFF"/>
                </a:solidFill>
                <a:latin typeface="Canva Sans"/>
                <a:ea typeface="Canva Sans"/>
                <a:cs typeface="Canva Sans"/>
                <a:sym typeface="Canva Sans"/>
              </a:rPr>
              <a:t>Financial Sample Dataset</a:t>
            </a:r>
          </a:p>
          <a:p>
            <a:pPr algn="l">
              <a:lnSpc>
                <a:spcPts val="5040"/>
              </a:lnSpc>
              <a:spcBef>
                <a:spcPct val="0"/>
              </a:spcBef>
            </a:pPr>
            <a:endParaRPr lang="en-US" sz="3600">
              <a:solidFill>
                <a:srgbClr val="FFFFFF"/>
              </a:solidFill>
              <a:latin typeface="Canva Sans"/>
              <a:ea typeface="Canva Sans"/>
              <a:cs typeface="Canva Sans"/>
              <a:sym typeface="Canva Sans"/>
            </a:endParaRPr>
          </a:p>
        </p:txBody>
      </p:sp>
      <p:sp>
        <p:nvSpPr>
          <p:cNvPr id="10" name="Freeform 10"/>
          <p:cNvSpPr/>
          <p:nvPr/>
        </p:nvSpPr>
        <p:spPr>
          <a:xfrm>
            <a:off x="13378496" y="8229600"/>
            <a:ext cx="4010060" cy="4114800"/>
          </a:xfrm>
          <a:custGeom>
            <a:avLst/>
            <a:gdLst/>
            <a:ahLst/>
            <a:cxnLst/>
            <a:rect l="l" t="t" r="r" b="b"/>
            <a:pathLst>
              <a:path w="4010060" h="4114800">
                <a:moveTo>
                  <a:pt x="0" y="0"/>
                </a:moveTo>
                <a:lnTo>
                  <a:pt x="4010060" y="0"/>
                </a:lnTo>
                <a:lnTo>
                  <a:pt x="401006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a:off x="-925678" y="-4926178"/>
            <a:ext cx="20139356" cy="20139356"/>
          </a:xfrm>
          <a:custGeom>
            <a:avLst/>
            <a:gdLst/>
            <a:ahLst/>
            <a:cxnLst/>
            <a:rect l="l" t="t" r="r" b="b"/>
            <a:pathLst>
              <a:path w="20139356" h="20139356">
                <a:moveTo>
                  <a:pt x="0" y="0"/>
                </a:moveTo>
                <a:lnTo>
                  <a:pt x="20139356" y="0"/>
                </a:lnTo>
                <a:lnTo>
                  <a:pt x="20139356" y="20139356"/>
                </a:lnTo>
                <a:lnTo>
                  <a:pt x="0" y="20139356"/>
                </a:lnTo>
                <a:lnTo>
                  <a:pt x="0" y="0"/>
                </a:lnTo>
                <a:close/>
              </a:path>
            </a:pathLst>
          </a:custGeom>
          <a:blipFill>
            <a:blip r:embed="rId3">
              <a:alphaModFix amt="4000"/>
            </a:blip>
            <a:stretch>
              <a:fillRect/>
            </a:stretch>
          </a:blipFill>
        </p:spPr>
      </p:sp>
      <p:sp>
        <p:nvSpPr>
          <p:cNvPr id="4" name="TextBox 4"/>
          <p:cNvSpPr txBox="1"/>
          <p:nvPr/>
        </p:nvSpPr>
        <p:spPr>
          <a:xfrm>
            <a:off x="1914696" y="1080354"/>
            <a:ext cx="14990301" cy="1474032"/>
          </a:xfrm>
          <a:prstGeom prst="rect">
            <a:avLst/>
          </a:prstGeom>
        </p:spPr>
        <p:txBody>
          <a:bodyPr lIns="0" tIns="0" rIns="0" bIns="0" rtlCol="0" anchor="t">
            <a:spAutoFit/>
          </a:bodyPr>
          <a:lstStyle/>
          <a:p>
            <a:pPr marL="0" lvl="0" indent="0" algn="l">
              <a:lnSpc>
                <a:spcPts val="9923"/>
              </a:lnSpc>
              <a:spcBef>
                <a:spcPct val="0"/>
              </a:spcBef>
            </a:pPr>
            <a:r>
              <a:rPr lang="en-US" sz="11277" b="1">
                <a:solidFill>
                  <a:srgbClr val="FFFFFF"/>
                </a:solidFill>
                <a:latin typeface="Poppins Bold"/>
                <a:ea typeface="Poppins Bold"/>
                <a:cs typeface="Poppins Bold"/>
                <a:sym typeface="Poppins Bold"/>
              </a:rPr>
              <a:t>PROJECT OBJECTIVE</a:t>
            </a:r>
          </a:p>
        </p:txBody>
      </p:sp>
      <p:sp>
        <p:nvSpPr>
          <p:cNvPr id="5" name="Freeform 5"/>
          <p:cNvSpPr/>
          <p:nvPr/>
        </p:nvSpPr>
        <p:spPr>
          <a:xfrm>
            <a:off x="12298155" y="-2057400"/>
            <a:ext cx="4010060" cy="4114800"/>
          </a:xfrm>
          <a:custGeom>
            <a:avLst/>
            <a:gdLst/>
            <a:ahLst/>
            <a:cxnLst/>
            <a:rect l="l" t="t" r="r" b="b"/>
            <a:pathLst>
              <a:path w="4010060" h="4114800">
                <a:moveTo>
                  <a:pt x="0" y="0"/>
                </a:moveTo>
                <a:lnTo>
                  <a:pt x="4010059" y="0"/>
                </a:lnTo>
                <a:lnTo>
                  <a:pt x="4010059"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774516" y="8229600"/>
            <a:ext cx="4010060" cy="4114800"/>
          </a:xfrm>
          <a:custGeom>
            <a:avLst/>
            <a:gdLst/>
            <a:ahLst/>
            <a:cxnLst/>
            <a:rect l="l" t="t" r="r" b="b"/>
            <a:pathLst>
              <a:path w="4010060" h="4114800">
                <a:moveTo>
                  <a:pt x="0" y="0"/>
                </a:moveTo>
                <a:lnTo>
                  <a:pt x="4010060" y="0"/>
                </a:lnTo>
                <a:lnTo>
                  <a:pt x="401006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1914696" y="3554888"/>
            <a:ext cx="14862649" cy="4183656"/>
          </a:xfrm>
          <a:prstGeom prst="rect">
            <a:avLst/>
          </a:prstGeom>
        </p:spPr>
        <p:txBody>
          <a:bodyPr lIns="0" tIns="0" rIns="0" bIns="0" rtlCol="0" anchor="t">
            <a:spAutoFit/>
          </a:bodyPr>
          <a:lstStyle/>
          <a:p>
            <a:pPr algn="l">
              <a:lnSpc>
                <a:spcPts val="5538"/>
              </a:lnSpc>
              <a:spcBef>
                <a:spcPct val="0"/>
              </a:spcBef>
            </a:pPr>
            <a:r>
              <a:rPr lang="en-US" sz="3956">
                <a:solidFill>
                  <a:srgbClr val="FFFFFF"/>
                </a:solidFill>
                <a:latin typeface="Canva Sans"/>
                <a:ea typeface="Canva Sans"/>
                <a:cs typeface="Canva Sans"/>
                <a:sym typeface="Canva Sans"/>
              </a:rPr>
              <a:t>The objective of this project was to design an interactive Power BI dashboard that helps business stakeholders analyze financial sales data. The dashboard provides meaningful insights into sales performance, profit, products, customer segments, and geographical sales distribution through interactive visualizations and filters.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a:off x="-925678" y="-4926178"/>
            <a:ext cx="20139356" cy="20139356"/>
          </a:xfrm>
          <a:custGeom>
            <a:avLst/>
            <a:gdLst/>
            <a:ahLst/>
            <a:cxnLst/>
            <a:rect l="l" t="t" r="r" b="b"/>
            <a:pathLst>
              <a:path w="20139356" h="20139356">
                <a:moveTo>
                  <a:pt x="0" y="0"/>
                </a:moveTo>
                <a:lnTo>
                  <a:pt x="20139356" y="0"/>
                </a:lnTo>
                <a:lnTo>
                  <a:pt x="20139356" y="20139356"/>
                </a:lnTo>
                <a:lnTo>
                  <a:pt x="0" y="20139356"/>
                </a:lnTo>
                <a:lnTo>
                  <a:pt x="0" y="0"/>
                </a:lnTo>
                <a:close/>
              </a:path>
            </a:pathLst>
          </a:custGeom>
          <a:blipFill>
            <a:blip r:embed="rId3">
              <a:alphaModFix amt="4000"/>
            </a:blip>
            <a:stretch>
              <a:fillRect/>
            </a:stretch>
          </a:blipFill>
        </p:spPr>
      </p:sp>
      <p:sp>
        <p:nvSpPr>
          <p:cNvPr id="4" name="Freeform 4"/>
          <p:cNvSpPr/>
          <p:nvPr/>
        </p:nvSpPr>
        <p:spPr>
          <a:xfrm>
            <a:off x="15699350" y="-2057400"/>
            <a:ext cx="4010060" cy="4114800"/>
          </a:xfrm>
          <a:custGeom>
            <a:avLst/>
            <a:gdLst/>
            <a:ahLst/>
            <a:cxnLst/>
            <a:rect l="l" t="t" r="r" b="b"/>
            <a:pathLst>
              <a:path w="4010060" h="4114800">
                <a:moveTo>
                  <a:pt x="0" y="0"/>
                </a:moveTo>
                <a:lnTo>
                  <a:pt x="4010060" y="0"/>
                </a:lnTo>
                <a:lnTo>
                  <a:pt x="401006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979825" y="4034760"/>
            <a:ext cx="6341234" cy="5832349"/>
          </a:xfrm>
          <a:custGeom>
            <a:avLst/>
            <a:gdLst/>
            <a:ahLst/>
            <a:cxnLst/>
            <a:rect l="l" t="t" r="r" b="b"/>
            <a:pathLst>
              <a:path w="6341234" h="5832349">
                <a:moveTo>
                  <a:pt x="0" y="0"/>
                </a:moveTo>
                <a:lnTo>
                  <a:pt x="6341234" y="0"/>
                </a:lnTo>
                <a:lnTo>
                  <a:pt x="6341234" y="5832349"/>
                </a:lnTo>
                <a:lnTo>
                  <a:pt x="0" y="5832349"/>
                </a:lnTo>
                <a:lnTo>
                  <a:pt x="0" y="0"/>
                </a:lnTo>
                <a:close/>
              </a:path>
            </a:pathLst>
          </a:custGeom>
          <a:blipFill>
            <a:blip r:embed="rId5"/>
            <a:stretch>
              <a:fillRect b="-4067"/>
            </a:stretch>
          </a:blipFill>
        </p:spPr>
      </p:sp>
      <p:sp>
        <p:nvSpPr>
          <p:cNvPr id="6" name="TextBox 6"/>
          <p:cNvSpPr txBox="1"/>
          <p:nvPr/>
        </p:nvSpPr>
        <p:spPr>
          <a:xfrm>
            <a:off x="1028700" y="820309"/>
            <a:ext cx="8855181" cy="2246119"/>
          </a:xfrm>
          <a:prstGeom prst="rect">
            <a:avLst/>
          </a:prstGeom>
        </p:spPr>
        <p:txBody>
          <a:bodyPr lIns="0" tIns="0" rIns="0" bIns="0" rtlCol="0" anchor="t">
            <a:spAutoFit/>
          </a:bodyPr>
          <a:lstStyle/>
          <a:p>
            <a:pPr algn="l">
              <a:lnSpc>
                <a:spcPts val="8165"/>
              </a:lnSpc>
            </a:pPr>
            <a:r>
              <a:rPr lang="en-US" sz="9279" b="1">
                <a:solidFill>
                  <a:srgbClr val="FFFFFF"/>
                </a:solidFill>
                <a:latin typeface="Poppins Bold"/>
                <a:ea typeface="Poppins Bold"/>
                <a:cs typeface="Poppins Bold"/>
                <a:sym typeface="Poppins Bold"/>
              </a:rPr>
              <a:t>DASHBOARD</a:t>
            </a:r>
          </a:p>
          <a:p>
            <a:pPr marL="0" lvl="0" indent="0" algn="l">
              <a:lnSpc>
                <a:spcPts val="8165"/>
              </a:lnSpc>
              <a:spcBef>
                <a:spcPct val="0"/>
              </a:spcBef>
            </a:pPr>
            <a:r>
              <a:rPr lang="en-US" sz="9279" b="1">
                <a:solidFill>
                  <a:srgbClr val="FFFFFF"/>
                </a:solidFill>
                <a:latin typeface="Poppins Bold"/>
                <a:ea typeface="Poppins Bold"/>
                <a:cs typeface="Poppins Bold"/>
                <a:sym typeface="Poppins Bold"/>
              </a:rPr>
              <a:t>    FEATURES</a:t>
            </a:r>
          </a:p>
        </p:txBody>
      </p:sp>
      <p:sp>
        <p:nvSpPr>
          <p:cNvPr id="7" name="TextBox 7"/>
          <p:cNvSpPr txBox="1"/>
          <p:nvPr/>
        </p:nvSpPr>
        <p:spPr>
          <a:xfrm>
            <a:off x="9764150" y="370093"/>
            <a:ext cx="6895258" cy="3664667"/>
          </a:xfrm>
          <a:prstGeom prst="rect">
            <a:avLst/>
          </a:prstGeom>
        </p:spPr>
        <p:txBody>
          <a:bodyPr lIns="0" tIns="0" rIns="0" bIns="0" rtlCol="0" anchor="t">
            <a:spAutoFit/>
          </a:bodyPr>
          <a:lstStyle/>
          <a:p>
            <a:pPr marL="456823" lvl="1" indent="-228412" algn="l">
              <a:lnSpc>
                <a:spcPts val="2962"/>
              </a:lnSpc>
              <a:buFont typeface="Arial"/>
              <a:buChar char="•"/>
            </a:pPr>
            <a:r>
              <a:rPr lang="en-US" sz="2115">
                <a:solidFill>
                  <a:srgbClr val="FFFFFF"/>
                </a:solidFill>
                <a:latin typeface="Canva Sans"/>
                <a:ea typeface="Canva Sans"/>
                <a:cs typeface="Canva Sans"/>
                <a:sym typeface="Canva Sans"/>
              </a:rPr>
              <a:t>Interactive KPI CardsTotal Sales</a:t>
            </a:r>
          </a:p>
          <a:p>
            <a:pPr marL="456823" lvl="1" indent="-228412" algn="l">
              <a:lnSpc>
                <a:spcPts val="2962"/>
              </a:lnSpc>
              <a:buFont typeface="Arial"/>
              <a:buChar char="•"/>
            </a:pPr>
            <a:r>
              <a:rPr lang="en-US" sz="2115">
                <a:solidFill>
                  <a:srgbClr val="FFFFFF"/>
                </a:solidFill>
                <a:latin typeface="Canva Sans"/>
                <a:ea typeface="Canva Sans"/>
                <a:cs typeface="Canva Sans"/>
                <a:sym typeface="Canva Sans"/>
              </a:rPr>
              <a:t>Total Profit</a:t>
            </a:r>
          </a:p>
          <a:p>
            <a:pPr marL="456823" lvl="1" indent="-228412" algn="l">
              <a:lnSpc>
                <a:spcPts val="2962"/>
              </a:lnSpc>
              <a:buFont typeface="Arial"/>
              <a:buChar char="•"/>
            </a:pPr>
            <a:r>
              <a:rPr lang="en-US" sz="2115">
                <a:solidFill>
                  <a:srgbClr val="FFFFFF"/>
                </a:solidFill>
                <a:latin typeface="Canva Sans"/>
                <a:ea typeface="Canva Sans"/>
                <a:cs typeface="Canva Sans"/>
                <a:sym typeface="Canva Sans"/>
              </a:rPr>
              <a:t>Total Units Sold</a:t>
            </a:r>
          </a:p>
          <a:p>
            <a:pPr marL="456823" lvl="1" indent="-228412" algn="l">
              <a:lnSpc>
                <a:spcPts val="2962"/>
              </a:lnSpc>
              <a:buFont typeface="Arial"/>
              <a:buChar char="•"/>
            </a:pPr>
            <a:r>
              <a:rPr lang="en-US" sz="2115">
                <a:solidFill>
                  <a:srgbClr val="FFFFFF"/>
                </a:solidFill>
                <a:latin typeface="Canva Sans"/>
                <a:ea typeface="Canva Sans"/>
                <a:cs typeface="Canva Sans"/>
                <a:sym typeface="Canva Sans"/>
              </a:rPr>
              <a:t>Sales Trend Analysis</a:t>
            </a:r>
          </a:p>
          <a:p>
            <a:pPr marL="456823" lvl="1" indent="-228412" algn="l">
              <a:lnSpc>
                <a:spcPts val="2962"/>
              </a:lnSpc>
              <a:buFont typeface="Arial"/>
              <a:buChar char="•"/>
            </a:pPr>
            <a:r>
              <a:rPr lang="en-US" sz="2115">
                <a:solidFill>
                  <a:srgbClr val="FFFFFF"/>
                </a:solidFill>
                <a:latin typeface="Canva Sans"/>
                <a:ea typeface="Canva Sans"/>
                <a:cs typeface="Canva Sans"/>
                <a:sym typeface="Canva Sans"/>
              </a:rPr>
              <a:t>Profit by Product</a:t>
            </a:r>
          </a:p>
          <a:p>
            <a:pPr marL="456823" lvl="1" indent="-228412" algn="l">
              <a:lnSpc>
                <a:spcPts val="2962"/>
              </a:lnSpc>
              <a:buFont typeface="Arial"/>
              <a:buChar char="•"/>
            </a:pPr>
            <a:r>
              <a:rPr lang="en-US" sz="2115">
                <a:solidFill>
                  <a:srgbClr val="FFFFFF"/>
                </a:solidFill>
                <a:latin typeface="Canva Sans"/>
                <a:ea typeface="Canva Sans"/>
                <a:cs typeface="Canva Sans"/>
                <a:sym typeface="Canva Sans"/>
              </a:rPr>
              <a:t>Sales by Country (Map)</a:t>
            </a:r>
          </a:p>
          <a:p>
            <a:pPr marL="456823" lvl="1" indent="-228412" algn="l">
              <a:lnSpc>
                <a:spcPts val="2962"/>
              </a:lnSpc>
              <a:buFont typeface="Arial"/>
              <a:buChar char="•"/>
            </a:pPr>
            <a:r>
              <a:rPr lang="en-US" sz="2115">
                <a:solidFill>
                  <a:srgbClr val="FFFFFF"/>
                </a:solidFill>
                <a:latin typeface="Canva Sans"/>
                <a:ea typeface="Canva Sans"/>
                <a:cs typeface="Canva Sans"/>
                <a:sym typeface="Canva Sans"/>
              </a:rPr>
              <a:t>Sales by Segment</a:t>
            </a:r>
          </a:p>
          <a:p>
            <a:pPr marL="456823" lvl="1" indent="-228412" algn="l">
              <a:lnSpc>
                <a:spcPts val="2962"/>
              </a:lnSpc>
              <a:buFont typeface="Arial"/>
              <a:buChar char="•"/>
            </a:pPr>
            <a:r>
              <a:rPr lang="en-US" sz="2115">
                <a:solidFill>
                  <a:srgbClr val="FFFFFF"/>
                </a:solidFill>
                <a:latin typeface="Canva Sans"/>
                <a:ea typeface="Canva Sans"/>
                <a:cs typeface="Canva Sans"/>
                <a:sym typeface="Canva Sans"/>
              </a:rPr>
              <a:t>Monthly Sales Analysis</a:t>
            </a:r>
          </a:p>
          <a:p>
            <a:pPr marL="456823" lvl="1" indent="-228412" algn="l">
              <a:lnSpc>
                <a:spcPts val="2962"/>
              </a:lnSpc>
              <a:buFont typeface="Arial"/>
              <a:buChar char="•"/>
            </a:pPr>
            <a:r>
              <a:rPr lang="en-US" sz="2115">
                <a:solidFill>
                  <a:srgbClr val="FFFFFF"/>
                </a:solidFill>
                <a:latin typeface="Canva Sans"/>
                <a:ea typeface="Canva Sans"/>
                <a:cs typeface="Canva Sans"/>
                <a:sym typeface="Canva Sans"/>
              </a:rPr>
              <a:t>Interactive Filters (Year, Country, Segment)</a:t>
            </a:r>
          </a:p>
          <a:p>
            <a:pPr algn="l">
              <a:lnSpc>
                <a:spcPts val="2962"/>
              </a:lnSpc>
            </a:pPr>
            <a:endParaRPr lang="en-US" sz="2115">
              <a:solidFill>
                <a:srgbClr val="FFFFFF"/>
              </a:solidFill>
              <a:latin typeface="Canva Sans"/>
              <a:ea typeface="Canva Sans"/>
              <a:cs typeface="Canva Sans"/>
              <a:sym typeface="Canva Sans"/>
            </a:endParaRPr>
          </a:p>
        </p:txBody>
      </p:sp>
      <p:sp>
        <p:nvSpPr>
          <p:cNvPr id="8" name="Freeform 8"/>
          <p:cNvSpPr/>
          <p:nvPr/>
        </p:nvSpPr>
        <p:spPr>
          <a:xfrm>
            <a:off x="9764150" y="4034760"/>
            <a:ext cx="6341234" cy="5832349"/>
          </a:xfrm>
          <a:custGeom>
            <a:avLst/>
            <a:gdLst/>
            <a:ahLst/>
            <a:cxnLst/>
            <a:rect l="l" t="t" r="r" b="b"/>
            <a:pathLst>
              <a:path w="6341234" h="5832349">
                <a:moveTo>
                  <a:pt x="0" y="0"/>
                </a:moveTo>
                <a:lnTo>
                  <a:pt x="6341233" y="0"/>
                </a:lnTo>
                <a:lnTo>
                  <a:pt x="6341233" y="5832349"/>
                </a:lnTo>
                <a:lnTo>
                  <a:pt x="0" y="5832349"/>
                </a:lnTo>
                <a:lnTo>
                  <a:pt x="0" y="0"/>
                </a:lnTo>
                <a:close/>
              </a:path>
            </a:pathLst>
          </a:custGeom>
          <a:blipFill>
            <a:blip r:embed="rId6"/>
            <a:stretch>
              <a:fillRect r="-13969"/>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a:off x="-925678" y="-4926178"/>
            <a:ext cx="20139356" cy="20139356"/>
          </a:xfrm>
          <a:custGeom>
            <a:avLst/>
            <a:gdLst/>
            <a:ahLst/>
            <a:cxnLst/>
            <a:rect l="l" t="t" r="r" b="b"/>
            <a:pathLst>
              <a:path w="20139356" h="20139356">
                <a:moveTo>
                  <a:pt x="0" y="0"/>
                </a:moveTo>
                <a:lnTo>
                  <a:pt x="20139356" y="0"/>
                </a:lnTo>
                <a:lnTo>
                  <a:pt x="20139356" y="20139356"/>
                </a:lnTo>
                <a:lnTo>
                  <a:pt x="0" y="20139356"/>
                </a:lnTo>
                <a:lnTo>
                  <a:pt x="0" y="0"/>
                </a:lnTo>
                <a:close/>
              </a:path>
            </a:pathLst>
          </a:custGeom>
          <a:blipFill>
            <a:blip r:embed="rId3">
              <a:alphaModFix amt="4000"/>
            </a:blip>
            <a:stretch>
              <a:fillRect/>
            </a:stretch>
          </a:blipFill>
        </p:spPr>
      </p:sp>
      <p:sp>
        <p:nvSpPr>
          <p:cNvPr id="4" name="TextBox 4"/>
          <p:cNvSpPr txBox="1"/>
          <p:nvPr/>
        </p:nvSpPr>
        <p:spPr>
          <a:xfrm>
            <a:off x="952500" y="1038225"/>
            <a:ext cx="14990301" cy="1256919"/>
          </a:xfrm>
          <a:prstGeom prst="rect">
            <a:avLst/>
          </a:prstGeom>
        </p:spPr>
        <p:txBody>
          <a:bodyPr lIns="0" tIns="0" rIns="0" bIns="0" rtlCol="0" anchor="t">
            <a:spAutoFit/>
          </a:bodyPr>
          <a:lstStyle/>
          <a:p>
            <a:pPr marL="0" lvl="0" indent="0" algn="l">
              <a:lnSpc>
                <a:spcPts val="8448"/>
              </a:lnSpc>
              <a:spcBef>
                <a:spcPct val="0"/>
              </a:spcBef>
            </a:pPr>
            <a:r>
              <a:rPr lang="en-US" sz="9600" b="1" dirty="0">
                <a:solidFill>
                  <a:srgbClr val="FFFFFF"/>
                </a:solidFill>
                <a:latin typeface="Poppins Bold"/>
                <a:ea typeface="Poppins Bold"/>
                <a:cs typeface="Poppins Bold"/>
                <a:sym typeface="Poppins Bold"/>
              </a:rPr>
              <a:t>KEY BUSINESS INSIGHTS</a:t>
            </a:r>
          </a:p>
        </p:txBody>
      </p:sp>
      <p:sp>
        <p:nvSpPr>
          <p:cNvPr id="5" name="Freeform 5"/>
          <p:cNvSpPr/>
          <p:nvPr/>
        </p:nvSpPr>
        <p:spPr>
          <a:xfrm>
            <a:off x="12622309" y="-2057400"/>
            <a:ext cx="4010060" cy="4114800"/>
          </a:xfrm>
          <a:custGeom>
            <a:avLst/>
            <a:gdLst/>
            <a:ahLst/>
            <a:cxnLst/>
            <a:rect l="l" t="t" r="r" b="b"/>
            <a:pathLst>
              <a:path w="4010060" h="4114800">
                <a:moveTo>
                  <a:pt x="0" y="0"/>
                </a:moveTo>
                <a:lnTo>
                  <a:pt x="4010059" y="0"/>
                </a:lnTo>
                <a:lnTo>
                  <a:pt x="4010059"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2850371" y="8229600"/>
            <a:ext cx="4010060" cy="4114800"/>
          </a:xfrm>
          <a:custGeom>
            <a:avLst/>
            <a:gdLst/>
            <a:ahLst/>
            <a:cxnLst/>
            <a:rect l="l" t="t" r="r" b="b"/>
            <a:pathLst>
              <a:path w="4010060" h="4114800">
                <a:moveTo>
                  <a:pt x="0" y="0"/>
                </a:moveTo>
                <a:lnTo>
                  <a:pt x="4010059" y="0"/>
                </a:lnTo>
                <a:lnTo>
                  <a:pt x="4010059"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952500" y="2953440"/>
            <a:ext cx="15679868" cy="5835392"/>
          </a:xfrm>
          <a:prstGeom prst="rect">
            <a:avLst/>
          </a:prstGeom>
        </p:spPr>
        <p:txBody>
          <a:bodyPr lIns="0" tIns="0" rIns="0" bIns="0" rtlCol="0" anchor="t">
            <a:spAutoFit/>
          </a:bodyPr>
          <a:lstStyle/>
          <a:p>
            <a:pPr marL="710797" lvl="1" indent="-355399" algn="l">
              <a:lnSpc>
                <a:spcPts val="4609"/>
              </a:lnSpc>
              <a:buFont typeface="Arial"/>
              <a:buChar char="•"/>
            </a:pPr>
            <a:r>
              <a:rPr lang="en-US" sz="3292">
                <a:solidFill>
                  <a:srgbClr val="FFFFFF"/>
                </a:solidFill>
                <a:latin typeface="Poppins"/>
                <a:ea typeface="Poppins"/>
                <a:cs typeface="Poppins"/>
                <a:sym typeface="Poppins"/>
              </a:rPr>
              <a:t>TOTAL SALES EXCEEDED 119 MILLION.</a:t>
            </a:r>
          </a:p>
          <a:p>
            <a:pPr marL="710797" lvl="1" indent="-355399" algn="l">
              <a:lnSpc>
                <a:spcPts val="4609"/>
              </a:lnSpc>
              <a:buFont typeface="Arial"/>
              <a:buChar char="•"/>
            </a:pPr>
            <a:r>
              <a:rPr lang="en-US" sz="3292">
                <a:solidFill>
                  <a:srgbClr val="FFFFFF"/>
                </a:solidFill>
                <a:latin typeface="Poppins"/>
                <a:ea typeface="Poppins"/>
                <a:cs typeface="Poppins"/>
                <a:sym typeface="Poppins"/>
              </a:rPr>
              <a:t>Total Profit exceeded 16 million.</a:t>
            </a:r>
          </a:p>
          <a:p>
            <a:pPr marL="710797" lvl="1" indent="-355399" algn="l">
              <a:lnSpc>
                <a:spcPts val="4609"/>
              </a:lnSpc>
              <a:buFont typeface="Arial"/>
              <a:buChar char="•"/>
            </a:pPr>
            <a:r>
              <a:rPr lang="en-US" sz="3292">
                <a:solidFill>
                  <a:srgbClr val="FFFFFF"/>
                </a:solidFill>
                <a:latin typeface="Poppins"/>
                <a:ea typeface="Poppins"/>
                <a:cs typeface="Poppins"/>
                <a:sym typeface="Poppins"/>
              </a:rPr>
              <a:t>Sales performance can be analyzed by year and quarter.</a:t>
            </a:r>
          </a:p>
          <a:p>
            <a:pPr marL="710797" lvl="1" indent="-355399" algn="l">
              <a:lnSpc>
                <a:spcPts val="4609"/>
              </a:lnSpc>
              <a:buFont typeface="Arial"/>
              <a:buChar char="•"/>
            </a:pPr>
            <a:r>
              <a:rPr lang="en-US" sz="3292">
                <a:solidFill>
                  <a:srgbClr val="FFFFFF"/>
                </a:solidFill>
                <a:latin typeface="Poppins"/>
                <a:ea typeface="Poppins"/>
                <a:cs typeface="Poppins"/>
                <a:sym typeface="Poppins"/>
              </a:rPr>
              <a:t>Product-wise profit comparison helps identify high-performing products.</a:t>
            </a:r>
          </a:p>
          <a:p>
            <a:pPr marL="710797" lvl="1" indent="-355399" algn="l">
              <a:lnSpc>
                <a:spcPts val="4609"/>
              </a:lnSpc>
              <a:buFont typeface="Arial"/>
              <a:buChar char="•"/>
            </a:pPr>
            <a:r>
              <a:rPr lang="en-US" sz="3292">
                <a:solidFill>
                  <a:srgbClr val="FFFFFF"/>
                </a:solidFill>
                <a:latin typeface="Poppins"/>
                <a:ea typeface="Poppins"/>
                <a:cs typeface="Poppins"/>
                <a:sym typeface="Poppins"/>
              </a:rPr>
              <a:t>Country-wise sales distribution highlights regional performance.</a:t>
            </a:r>
          </a:p>
          <a:p>
            <a:pPr marL="710797" lvl="1" indent="-355399" algn="l">
              <a:lnSpc>
                <a:spcPts val="4609"/>
              </a:lnSpc>
              <a:buFont typeface="Arial"/>
              <a:buChar char="•"/>
            </a:pPr>
            <a:r>
              <a:rPr lang="en-US" sz="3292">
                <a:solidFill>
                  <a:srgbClr val="FFFFFF"/>
                </a:solidFill>
                <a:latin typeface="Poppins"/>
                <a:ea typeface="Poppins"/>
                <a:cs typeface="Poppins"/>
                <a:sym typeface="Poppins"/>
              </a:rPr>
              <a:t>Customer segments contribute differently to total sales.</a:t>
            </a:r>
          </a:p>
          <a:p>
            <a:pPr marL="710797" lvl="1" indent="-355399" algn="l">
              <a:lnSpc>
                <a:spcPts val="4609"/>
              </a:lnSpc>
              <a:buFont typeface="Arial"/>
              <a:buChar char="•"/>
            </a:pPr>
            <a:r>
              <a:rPr lang="en-US" sz="3292">
                <a:solidFill>
                  <a:srgbClr val="FFFFFF"/>
                </a:solidFill>
                <a:latin typeface="Poppins"/>
                <a:ea typeface="Poppins"/>
                <a:cs typeface="Poppins"/>
                <a:sym typeface="Poppins"/>
              </a:rPr>
              <a:t>Interactive slicers enable dynamic data exploration.</a:t>
            </a:r>
          </a:p>
          <a:p>
            <a:pPr algn="l">
              <a:lnSpc>
                <a:spcPts val="4609"/>
              </a:lnSpc>
              <a:spcBef>
                <a:spcPct val="0"/>
              </a:spcBef>
            </a:pPr>
            <a:endParaRPr lang="en-US" sz="3292">
              <a:solidFill>
                <a:srgbClr val="FFFFFF"/>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a:off x="-925678" y="-4926178"/>
            <a:ext cx="20139356" cy="20139356"/>
          </a:xfrm>
          <a:custGeom>
            <a:avLst/>
            <a:gdLst/>
            <a:ahLst/>
            <a:cxnLst/>
            <a:rect l="l" t="t" r="r" b="b"/>
            <a:pathLst>
              <a:path w="20139356" h="20139356">
                <a:moveTo>
                  <a:pt x="0" y="0"/>
                </a:moveTo>
                <a:lnTo>
                  <a:pt x="20139356" y="0"/>
                </a:lnTo>
                <a:lnTo>
                  <a:pt x="20139356" y="20139356"/>
                </a:lnTo>
                <a:lnTo>
                  <a:pt x="0" y="20139356"/>
                </a:lnTo>
                <a:lnTo>
                  <a:pt x="0" y="0"/>
                </a:lnTo>
                <a:close/>
              </a:path>
            </a:pathLst>
          </a:custGeom>
          <a:blipFill>
            <a:blip r:embed="rId3">
              <a:alphaModFix amt="4000"/>
            </a:blip>
            <a:stretch>
              <a:fillRect/>
            </a:stretch>
          </a:blipFill>
        </p:spPr>
      </p:sp>
      <p:sp>
        <p:nvSpPr>
          <p:cNvPr id="4" name="TextBox 4"/>
          <p:cNvSpPr txBox="1"/>
          <p:nvPr/>
        </p:nvSpPr>
        <p:spPr>
          <a:xfrm>
            <a:off x="2371851" y="543614"/>
            <a:ext cx="13544297" cy="2099322"/>
          </a:xfrm>
          <a:prstGeom prst="rect">
            <a:avLst/>
          </a:prstGeom>
        </p:spPr>
        <p:txBody>
          <a:bodyPr lIns="0" tIns="0" rIns="0" bIns="0" rtlCol="0" anchor="t">
            <a:spAutoFit/>
          </a:bodyPr>
          <a:lstStyle/>
          <a:p>
            <a:pPr algn="l">
              <a:lnSpc>
                <a:spcPts val="7633"/>
              </a:lnSpc>
            </a:pPr>
            <a:r>
              <a:rPr lang="en-US" sz="8673" b="1">
                <a:solidFill>
                  <a:srgbClr val="FFFFFF"/>
                </a:solidFill>
                <a:latin typeface="Poppins Bold"/>
                <a:ea typeface="Poppins Bold"/>
                <a:cs typeface="Poppins Bold"/>
                <a:sym typeface="Poppins Bold"/>
              </a:rPr>
              <a:t>TOOLS &amp; SKILLS USED</a:t>
            </a:r>
          </a:p>
          <a:p>
            <a:pPr marL="0" lvl="0" indent="0" algn="l">
              <a:lnSpc>
                <a:spcPts val="7633"/>
              </a:lnSpc>
              <a:spcBef>
                <a:spcPct val="0"/>
              </a:spcBef>
            </a:pPr>
            <a:endParaRPr lang="en-US" sz="8673" b="1">
              <a:solidFill>
                <a:srgbClr val="FFFFFF"/>
              </a:solidFill>
              <a:latin typeface="Poppins Bold"/>
              <a:ea typeface="Poppins Bold"/>
              <a:cs typeface="Poppins Bold"/>
              <a:sym typeface="Poppins Bold"/>
            </a:endParaRPr>
          </a:p>
        </p:txBody>
      </p:sp>
      <p:sp>
        <p:nvSpPr>
          <p:cNvPr id="5" name="TextBox 5"/>
          <p:cNvSpPr txBox="1"/>
          <p:nvPr/>
        </p:nvSpPr>
        <p:spPr>
          <a:xfrm>
            <a:off x="1028700" y="2305919"/>
            <a:ext cx="7713975" cy="3942195"/>
          </a:xfrm>
          <a:prstGeom prst="rect">
            <a:avLst/>
          </a:prstGeom>
        </p:spPr>
        <p:txBody>
          <a:bodyPr lIns="0" tIns="0" rIns="0" bIns="0" rtlCol="0" anchor="t">
            <a:spAutoFit/>
          </a:bodyPr>
          <a:lstStyle/>
          <a:p>
            <a:pPr algn="l">
              <a:lnSpc>
                <a:spcPts val="5200"/>
              </a:lnSpc>
            </a:pPr>
            <a:r>
              <a:rPr lang="en-US" sz="3714">
                <a:solidFill>
                  <a:srgbClr val="FFFFFF"/>
                </a:solidFill>
                <a:latin typeface="Canva Sans"/>
                <a:ea typeface="Canva Sans"/>
                <a:cs typeface="Canva Sans"/>
                <a:sym typeface="Canva Sans"/>
              </a:rPr>
              <a:t>Tools Used</a:t>
            </a:r>
          </a:p>
          <a:p>
            <a:pPr marL="801957" lvl="1" indent="-400978" algn="l">
              <a:lnSpc>
                <a:spcPts val="5200"/>
              </a:lnSpc>
              <a:buFont typeface="Arial"/>
              <a:buChar char="•"/>
            </a:pPr>
            <a:r>
              <a:rPr lang="en-US" sz="3714">
                <a:solidFill>
                  <a:srgbClr val="FFFFFF"/>
                </a:solidFill>
                <a:latin typeface="Canva Sans"/>
                <a:ea typeface="Canva Sans"/>
                <a:cs typeface="Canva Sans"/>
                <a:sym typeface="Canva Sans"/>
              </a:rPr>
              <a:t>Microsoft Power BI Desktop</a:t>
            </a:r>
          </a:p>
          <a:p>
            <a:pPr marL="801957" lvl="1" indent="-400978" algn="l">
              <a:lnSpc>
                <a:spcPts val="5200"/>
              </a:lnSpc>
              <a:buFont typeface="Arial"/>
              <a:buChar char="•"/>
            </a:pPr>
            <a:r>
              <a:rPr lang="en-US" sz="3714">
                <a:solidFill>
                  <a:srgbClr val="FFFFFF"/>
                </a:solidFill>
                <a:latin typeface="Canva Sans"/>
                <a:ea typeface="Canva Sans"/>
                <a:cs typeface="Canva Sans"/>
                <a:sym typeface="Canva Sans"/>
              </a:rPr>
              <a:t>CSV Dataset</a:t>
            </a:r>
          </a:p>
          <a:p>
            <a:pPr marL="801957" lvl="1" indent="-400978" algn="l">
              <a:lnSpc>
                <a:spcPts val="5200"/>
              </a:lnSpc>
              <a:buFont typeface="Arial"/>
              <a:buChar char="•"/>
            </a:pPr>
            <a:r>
              <a:rPr lang="en-US" sz="3714">
                <a:solidFill>
                  <a:srgbClr val="FFFFFF"/>
                </a:solidFill>
                <a:latin typeface="Canva Sans"/>
                <a:ea typeface="Canva Sans"/>
                <a:cs typeface="Canva Sans"/>
                <a:sym typeface="Canva Sans"/>
              </a:rPr>
              <a:t>Data Visualization</a:t>
            </a:r>
          </a:p>
          <a:p>
            <a:pPr marL="801957" lvl="1" indent="-400978" algn="l">
              <a:lnSpc>
                <a:spcPts val="5200"/>
              </a:lnSpc>
              <a:buFont typeface="Arial"/>
              <a:buChar char="•"/>
            </a:pPr>
            <a:r>
              <a:rPr lang="en-US" sz="3714">
                <a:solidFill>
                  <a:srgbClr val="FFFFFF"/>
                </a:solidFill>
                <a:latin typeface="Canva Sans"/>
                <a:ea typeface="Canva Sans"/>
                <a:cs typeface="Canva Sans"/>
                <a:sym typeface="Canva Sans"/>
              </a:rPr>
              <a:t>Dashboard Design</a:t>
            </a:r>
          </a:p>
          <a:p>
            <a:pPr algn="l">
              <a:lnSpc>
                <a:spcPts val="5200"/>
              </a:lnSpc>
              <a:spcBef>
                <a:spcPct val="0"/>
              </a:spcBef>
            </a:pPr>
            <a:endParaRPr lang="en-US" sz="3714">
              <a:solidFill>
                <a:srgbClr val="FFFFFF"/>
              </a:solidFill>
              <a:latin typeface="Canva Sans"/>
              <a:ea typeface="Canva Sans"/>
              <a:cs typeface="Canva Sans"/>
              <a:sym typeface="Canva Sans"/>
            </a:endParaRPr>
          </a:p>
        </p:txBody>
      </p:sp>
      <p:sp>
        <p:nvSpPr>
          <p:cNvPr id="7" name="TextBox 7"/>
          <p:cNvSpPr txBox="1"/>
          <p:nvPr/>
        </p:nvSpPr>
        <p:spPr>
          <a:xfrm>
            <a:off x="9222193" y="2315444"/>
            <a:ext cx="6986119" cy="6028773"/>
          </a:xfrm>
          <a:prstGeom prst="rect">
            <a:avLst/>
          </a:prstGeom>
        </p:spPr>
        <p:txBody>
          <a:bodyPr lIns="0" tIns="0" rIns="0" bIns="0" rtlCol="0" anchor="t">
            <a:spAutoFit/>
          </a:bodyPr>
          <a:lstStyle/>
          <a:p>
            <a:pPr algn="l">
              <a:lnSpc>
                <a:spcPts val="5335"/>
              </a:lnSpc>
            </a:pPr>
            <a:r>
              <a:rPr lang="en-US" sz="3811">
                <a:solidFill>
                  <a:srgbClr val="FFFFFF"/>
                </a:solidFill>
                <a:latin typeface="Canva Sans"/>
                <a:ea typeface="Canva Sans"/>
                <a:cs typeface="Canva Sans"/>
                <a:sym typeface="Canva Sans"/>
              </a:rPr>
              <a:t>Skills Learned</a:t>
            </a:r>
          </a:p>
          <a:p>
            <a:pPr marL="822850" lvl="1" indent="-411425" algn="l">
              <a:lnSpc>
                <a:spcPts val="5335"/>
              </a:lnSpc>
              <a:buFont typeface="Arial"/>
              <a:buChar char="•"/>
            </a:pPr>
            <a:r>
              <a:rPr lang="en-US" sz="3811">
                <a:solidFill>
                  <a:srgbClr val="FFFFFF"/>
                </a:solidFill>
                <a:latin typeface="Canva Sans"/>
                <a:ea typeface="Canva Sans"/>
                <a:cs typeface="Canva Sans"/>
                <a:sym typeface="Canva Sans"/>
              </a:rPr>
              <a:t>Data Visualization</a:t>
            </a:r>
          </a:p>
          <a:p>
            <a:pPr marL="822850" lvl="1" indent="-411425" algn="l">
              <a:lnSpc>
                <a:spcPts val="5335"/>
              </a:lnSpc>
              <a:buFont typeface="Arial"/>
              <a:buChar char="•"/>
            </a:pPr>
            <a:r>
              <a:rPr lang="en-US" sz="3811">
                <a:solidFill>
                  <a:srgbClr val="FFFFFF"/>
                </a:solidFill>
                <a:latin typeface="Canva Sans"/>
                <a:ea typeface="Canva Sans"/>
                <a:cs typeface="Canva Sans"/>
                <a:sym typeface="Canva Sans"/>
              </a:rPr>
              <a:t>Business Intelligence</a:t>
            </a:r>
          </a:p>
          <a:p>
            <a:pPr marL="822850" lvl="1" indent="-411425" algn="l">
              <a:lnSpc>
                <a:spcPts val="5335"/>
              </a:lnSpc>
              <a:buFont typeface="Arial"/>
              <a:buChar char="•"/>
            </a:pPr>
            <a:r>
              <a:rPr lang="en-US" sz="3811">
                <a:solidFill>
                  <a:srgbClr val="FFFFFF"/>
                </a:solidFill>
                <a:latin typeface="Canva Sans"/>
                <a:ea typeface="Canva Sans"/>
                <a:cs typeface="Canva Sans"/>
                <a:sym typeface="Canva Sans"/>
              </a:rPr>
              <a:t>Dashboard Development</a:t>
            </a:r>
          </a:p>
          <a:p>
            <a:pPr marL="822850" lvl="1" indent="-411425" algn="l">
              <a:lnSpc>
                <a:spcPts val="5335"/>
              </a:lnSpc>
              <a:buFont typeface="Arial"/>
              <a:buChar char="•"/>
            </a:pPr>
            <a:r>
              <a:rPr lang="en-US" sz="3811">
                <a:solidFill>
                  <a:srgbClr val="FFFFFF"/>
                </a:solidFill>
                <a:latin typeface="Canva Sans"/>
                <a:ea typeface="Canva Sans"/>
                <a:cs typeface="Canva Sans"/>
                <a:sym typeface="Canva Sans"/>
              </a:rPr>
              <a:t>KPI Analysis</a:t>
            </a:r>
          </a:p>
          <a:p>
            <a:pPr marL="822850" lvl="1" indent="-411425" algn="l">
              <a:lnSpc>
                <a:spcPts val="5335"/>
              </a:lnSpc>
              <a:buFont typeface="Arial"/>
              <a:buChar char="•"/>
            </a:pPr>
            <a:r>
              <a:rPr lang="en-US" sz="3811">
                <a:solidFill>
                  <a:srgbClr val="FFFFFF"/>
                </a:solidFill>
                <a:latin typeface="Canva Sans"/>
                <a:ea typeface="Canva Sans"/>
                <a:cs typeface="Canva Sans"/>
                <a:sym typeface="Canva Sans"/>
              </a:rPr>
              <a:t>Interactive Reporting</a:t>
            </a:r>
          </a:p>
          <a:p>
            <a:pPr marL="822850" lvl="1" indent="-411425" algn="l">
              <a:lnSpc>
                <a:spcPts val="5335"/>
              </a:lnSpc>
              <a:buFont typeface="Arial"/>
              <a:buChar char="•"/>
            </a:pPr>
            <a:r>
              <a:rPr lang="en-US" sz="3811">
                <a:solidFill>
                  <a:srgbClr val="FFFFFF"/>
                </a:solidFill>
                <a:latin typeface="Canva Sans"/>
                <a:ea typeface="Canva Sans"/>
                <a:cs typeface="Canva Sans"/>
                <a:sym typeface="Canva Sans"/>
              </a:rPr>
              <a:t>Data Filtering using Slicers</a:t>
            </a:r>
          </a:p>
          <a:p>
            <a:pPr marL="822850" lvl="1" indent="-411425" algn="l">
              <a:lnSpc>
                <a:spcPts val="5335"/>
              </a:lnSpc>
              <a:buFont typeface="Arial"/>
              <a:buChar char="•"/>
            </a:pPr>
            <a:r>
              <a:rPr lang="en-US" sz="3811">
                <a:solidFill>
                  <a:srgbClr val="FFFFFF"/>
                </a:solidFill>
                <a:latin typeface="Canva Sans"/>
                <a:ea typeface="Canva Sans"/>
                <a:cs typeface="Canva Sans"/>
                <a:sym typeface="Canva Sans"/>
              </a:rPr>
              <a:t>Business Data Analysis</a:t>
            </a:r>
          </a:p>
          <a:p>
            <a:pPr algn="ctr">
              <a:lnSpc>
                <a:spcPts val="5335"/>
              </a:lnSpc>
              <a:spcBef>
                <a:spcPct val="0"/>
              </a:spcBef>
            </a:pPr>
            <a:endParaRPr lang="en-US" sz="3811">
              <a:solidFill>
                <a:srgbClr val="FFFFFF"/>
              </a:solidFill>
              <a:latin typeface="Canva Sans"/>
              <a:ea typeface="Canva Sans"/>
              <a:cs typeface="Canva Sans"/>
              <a:sym typeface="Canva Sans"/>
            </a:endParaRPr>
          </a:p>
        </p:txBody>
      </p:sp>
      <p:sp>
        <p:nvSpPr>
          <p:cNvPr id="8" name="Freeform 8"/>
          <p:cNvSpPr/>
          <p:nvPr/>
        </p:nvSpPr>
        <p:spPr>
          <a:xfrm>
            <a:off x="16208311" y="2133314"/>
            <a:ext cx="4010060" cy="4114800"/>
          </a:xfrm>
          <a:custGeom>
            <a:avLst/>
            <a:gdLst/>
            <a:ahLst/>
            <a:cxnLst/>
            <a:rect l="l" t="t" r="r" b="b"/>
            <a:pathLst>
              <a:path w="4010060" h="4114800">
                <a:moveTo>
                  <a:pt x="0" y="0"/>
                </a:moveTo>
                <a:lnTo>
                  <a:pt x="4010060" y="0"/>
                </a:lnTo>
                <a:lnTo>
                  <a:pt x="401006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16208311" y="2133314"/>
            <a:ext cx="4010060" cy="4114800"/>
          </a:xfrm>
          <a:custGeom>
            <a:avLst/>
            <a:gdLst/>
            <a:ahLst/>
            <a:cxnLst/>
            <a:rect l="l" t="t" r="r" b="b"/>
            <a:pathLst>
              <a:path w="4010060" h="4114800">
                <a:moveTo>
                  <a:pt x="0" y="0"/>
                </a:moveTo>
                <a:lnTo>
                  <a:pt x="4010060" y="0"/>
                </a:lnTo>
                <a:lnTo>
                  <a:pt x="401006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a:off x="-925678" y="-4926178"/>
            <a:ext cx="20139356" cy="20139356"/>
          </a:xfrm>
          <a:custGeom>
            <a:avLst/>
            <a:gdLst/>
            <a:ahLst/>
            <a:cxnLst/>
            <a:rect l="l" t="t" r="r" b="b"/>
            <a:pathLst>
              <a:path w="20139356" h="20139356">
                <a:moveTo>
                  <a:pt x="0" y="0"/>
                </a:moveTo>
                <a:lnTo>
                  <a:pt x="20139356" y="0"/>
                </a:lnTo>
                <a:lnTo>
                  <a:pt x="20139356" y="20139356"/>
                </a:lnTo>
                <a:lnTo>
                  <a:pt x="0" y="20139356"/>
                </a:lnTo>
                <a:lnTo>
                  <a:pt x="0" y="0"/>
                </a:lnTo>
                <a:close/>
              </a:path>
            </a:pathLst>
          </a:custGeom>
          <a:blipFill>
            <a:blip r:embed="rId3">
              <a:alphaModFix amt="4000"/>
            </a:blip>
            <a:stretch>
              <a:fillRect/>
            </a:stretch>
          </a:blipFill>
        </p:spPr>
      </p:sp>
      <p:sp>
        <p:nvSpPr>
          <p:cNvPr id="4" name="Freeform 4"/>
          <p:cNvSpPr/>
          <p:nvPr/>
        </p:nvSpPr>
        <p:spPr>
          <a:xfrm>
            <a:off x="14487182" y="-2057400"/>
            <a:ext cx="4010060" cy="4114800"/>
          </a:xfrm>
          <a:custGeom>
            <a:avLst/>
            <a:gdLst/>
            <a:ahLst/>
            <a:cxnLst/>
            <a:rect l="l" t="t" r="r" b="b"/>
            <a:pathLst>
              <a:path w="4010060" h="4114800">
                <a:moveTo>
                  <a:pt x="0" y="0"/>
                </a:moveTo>
                <a:lnTo>
                  <a:pt x="4010060" y="0"/>
                </a:lnTo>
                <a:lnTo>
                  <a:pt x="401006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5912063" y="547369"/>
            <a:ext cx="6813337" cy="1510031"/>
          </a:xfrm>
          <a:prstGeom prst="rect">
            <a:avLst/>
          </a:prstGeom>
        </p:spPr>
        <p:txBody>
          <a:bodyPr wrap="square" lIns="0" tIns="0" rIns="0" bIns="0" rtlCol="0" anchor="t">
            <a:spAutoFit/>
          </a:bodyPr>
          <a:lstStyle/>
          <a:p>
            <a:pPr algn="ctr">
              <a:lnSpc>
                <a:spcPts val="12319"/>
              </a:lnSpc>
              <a:spcBef>
                <a:spcPct val="0"/>
              </a:spcBef>
            </a:pPr>
            <a:r>
              <a:rPr lang="en-US" sz="8799" b="1" dirty="0">
                <a:solidFill>
                  <a:srgbClr val="FFFFFF"/>
                </a:solidFill>
                <a:latin typeface="Canva Sans Bold"/>
                <a:ea typeface="Canva Sans Bold"/>
                <a:cs typeface="Canva Sans Bold"/>
                <a:sym typeface="Canva Sans Bold"/>
              </a:rPr>
              <a:t>Conclusion</a:t>
            </a:r>
          </a:p>
        </p:txBody>
      </p:sp>
      <p:sp>
        <p:nvSpPr>
          <p:cNvPr id="6" name="TextBox 6"/>
          <p:cNvSpPr txBox="1"/>
          <p:nvPr/>
        </p:nvSpPr>
        <p:spPr>
          <a:xfrm>
            <a:off x="2140234" y="2671918"/>
            <a:ext cx="14007532" cy="4876489"/>
          </a:xfrm>
          <a:prstGeom prst="rect">
            <a:avLst/>
          </a:prstGeom>
        </p:spPr>
        <p:txBody>
          <a:bodyPr lIns="0" tIns="0" rIns="0" bIns="0" rtlCol="0" anchor="t">
            <a:spAutoFit/>
          </a:bodyPr>
          <a:lstStyle/>
          <a:p>
            <a:pPr algn="l">
              <a:lnSpc>
                <a:spcPts val="4834"/>
              </a:lnSpc>
            </a:pPr>
            <a:r>
              <a:rPr lang="en-US" sz="3453" dirty="0">
                <a:solidFill>
                  <a:srgbClr val="FFFFFF"/>
                </a:solidFill>
                <a:latin typeface="Canva Sans"/>
                <a:ea typeface="Canva Sans"/>
                <a:cs typeface="Canva Sans"/>
                <a:sym typeface="Canva Sans"/>
              </a:rPr>
              <a:t>This project demonstrates how Power BI can transform raw financial data into meaningful business insights through interactive dashboards. The dashboard enables stakeholders to monitor key performance indicators, analyze sales trends, compare product performance, and make informed business decisions using interactive filters and visualizations.</a:t>
            </a:r>
          </a:p>
          <a:p>
            <a:pPr algn="l">
              <a:lnSpc>
                <a:spcPts val="4834"/>
              </a:lnSpc>
            </a:pPr>
            <a:endParaRPr lang="en-US" sz="3453" dirty="0">
              <a:solidFill>
                <a:srgbClr val="FFFFFF"/>
              </a:solidFill>
              <a:latin typeface="Canva Sans"/>
              <a:ea typeface="Canva Sans"/>
              <a:cs typeface="Canva Sans"/>
              <a:sym typeface="Canva Sans"/>
            </a:endParaRPr>
          </a:p>
          <a:p>
            <a:pPr algn="l">
              <a:lnSpc>
                <a:spcPts val="4834"/>
              </a:lnSpc>
              <a:spcBef>
                <a:spcPct val="0"/>
              </a:spcBef>
            </a:pPr>
            <a:endParaRPr lang="en-US" sz="3453" dirty="0">
              <a:solidFill>
                <a:srgbClr val="FFFFFF"/>
              </a:solidFill>
              <a:latin typeface="Canva Sans"/>
              <a:ea typeface="Canva Sans"/>
              <a:cs typeface="Canva Sans"/>
              <a:sym typeface="Canva Sans"/>
            </a:endParaRPr>
          </a:p>
        </p:txBody>
      </p:sp>
      <p:sp>
        <p:nvSpPr>
          <p:cNvPr id="7" name="Freeform 7"/>
          <p:cNvSpPr/>
          <p:nvPr/>
        </p:nvSpPr>
        <p:spPr>
          <a:xfrm>
            <a:off x="12852181" y="8234207"/>
            <a:ext cx="4010060" cy="4114800"/>
          </a:xfrm>
          <a:custGeom>
            <a:avLst/>
            <a:gdLst/>
            <a:ahLst/>
            <a:cxnLst/>
            <a:rect l="l" t="t" r="r" b="b"/>
            <a:pathLst>
              <a:path w="4010060" h="4114800">
                <a:moveTo>
                  <a:pt x="0" y="0"/>
                </a:moveTo>
                <a:lnTo>
                  <a:pt x="4010059" y="0"/>
                </a:lnTo>
                <a:lnTo>
                  <a:pt x="4010059"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a:off x="16282970" y="-1028700"/>
            <a:ext cx="4010060" cy="4114800"/>
          </a:xfrm>
          <a:custGeom>
            <a:avLst/>
            <a:gdLst/>
            <a:ahLst/>
            <a:cxnLst/>
            <a:rect l="l" t="t" r="r" b="b"/>
            <a:pathLst>
              <a:path w="4010060" h="4114800">
                <a:moveTo>
                  <a:pt x="0" y="0"/>
                </a:moveTo>
                <a:lnTo>
                  <a:pt x="4010060" y="0"/>
                </a:lnTo>
                <a:lnTo>
                  <a:pt x="401006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TextBox 9"/>
          <p:cNvSpPr txBox="1"/>
          <p:nvPr/>
        </p:nvSpPr>
        <p:spPr>
          <a:xfrm>
            <a:off x="6053848" y="7692740"/>
            <a:ext cx="6180305" cy="963243"/>
          </a:xfrm>
          <a:prstGeom prst="rect">
            <a:avLst/>
          </a:prstGeom>
        </p:spPr>
        <p:txBody>
          <a:bodyPr lIns="0" tIns="0" rIns="0" bIns="0" rtlCol="0" anchor="t">
            <a:spAutoFit/>
          </a:bodyPr>
          <a:lstStyle/>
          <a:p>
            <a:pPr algn="ctr">
              <a:lnSpc>
                <a:spcPts val="7807"/>
              </a:lnSpc>
              <a:spcBef>
                <a:spcPct val="0"/>
              </a:spcBef>
            </a:pPr>
            <a:r>
              <a:rPr lang="en-US" sz="5577" b="1">
                <a:solidFill>
                  <a:srgbClr val="FFFFFF"/>
                </a:solidFill>
                <a:latin typeface="Canva Sans Bold"/>
                <a:ea typeface="Canva Sans Bold"/>
                <a:cs typeface="Canva Sans Bold"/>
                <a:sym typeface="Canva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256</Words>
  <Application>Microsoft Office PowerPoint</Application>
  <PresentationFormat>Custom</PresentationFormat>
  <Paragraphs>45</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Poppins</vt:lpstr>
      <vt:lpstr>Arial</vt:lpstr>
      <vt:lpstr>Poppins Bold</vt:lpstr>
      <vt:lpstr>Canva Sans</vt:lpstr>
      <vt:lpstr>Calibri</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PPT</dc:title>
  <dc:creator>hp</dc:creator>
  <cp:lastModifiedBy>kirpagupta7590@gmail.com</cp:lastModifiedBy>
  <cp:revision>3</cp:revision>
  <dcterms:created xsi:type="dcterms:W3CDTF">2006-08-16T00:00:00Z</dcterms:created>
  <dcterms:modified xsi:type="dcterms:W3CDTF">2026-07-05T16:11:42Z</dcterms:modified>
  <dc:identifier>DAHOhxXuSqc</dc:identifier>
</cp:coreProperties>
</file>